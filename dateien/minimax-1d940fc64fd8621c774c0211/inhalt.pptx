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zimmermann/energetische-verbesserungen-holzbau-bestand/" TargetMode="External"/><Relationship Id="rId3" Type="http://schemas.openxmlformats.org/officeDocument/2006/relationships/hyperlink" Target="https://holzundhaus.github.io/spreezimmermann/dateien/minimax-1d940fc64fd8621c774c021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Energetische Verbesserungen mit Holzkonstruktionen: Welche Optionen im Bestand wirklich tragen · Erklärende Präsentation</a:t>
            </a:r>
          </a:p>
        </p:txBody>
      </p:sp>
      <p:sp>
        <p:nvSpPr>
          <p:cNvPr id="3" name="Content Placeholder 2"/>
          <p:cNvSpPr>
            <a:spLocks noGrp="1"/>
          </p:cNvSpPr>
          <p:nvPr>
            <p:ph idx="1"/>
          </p:nvPr>
        </p:nvSpPr>
        <p:spPr/>
        <p:txBody>
          <a:bodyPr/>
          <a:lstStyle/>
          <a:p>
            <a:r>
              <a:t>Überblick: Welche energetische Verbesserung im Holzbestand wirklich trägt, hängt weniger von einer pauschalen Dämmstärke ab als vom Zusammenspiel der Bauteile ab. Dachdämmung, Holzfassade, Dachaufstockung und Holzbalkendecke erfüllen unterschiedliche Aufgaben. Für eine belastbare Entscheidung müssen Wärmeschutz, Feuchteschutz, Anschlüsse und die vorhandene Konstruktion gemeinsam betrachtet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Aufbau und Luftdichtheit gemeinsam prüfen</a:t>
            </a:r>
          </a:p>
        </p:txBody>
      </p:sp>
      <p:sp>
        <p:nvSpPr>
          <p:cNvPr id="3" name="Content Placeholder 2"/>
          <p:cNvSpPr>
            <a:spLocks noGrp="1"/>
          </p:cNvSpPr>
          <p:nvPr>
            <p:ph idx="1"/>
          </p:nvPr>
        </p:nvSpPr>
        <p:spPr/>
        <p:txBody>
          <a:bodyPr/>
          <a:lstStyle/>
          <a:p>
            <a:pPr>
              <a:defRPr sz="1800"/>
            </a:pPr>
            <a:r>
              <a:t>Bei einer Dachdämmung ist zunächst entscheidend, ob der Dachraum beheizt oder unbeheizt ist und wie viel Sparrenhöhe zur Verfügung steht. Eine Zwischensparrendämmung nutzt den vorhandenen Raum zwischen den Sparren, während eine Untersparrendämmung zusätzlich Innenraum benötigt. Eine Aufparrendämmung verändert den Aufbau oberhalb der Sparren und muss mit der äußeren Dachhaut abgestimmt werden. Ebenso wichtig ist eine luftdichte Ebene: Feuchte Raumluft soll nicht in kalte Schichten gelangen. Wärmeschutz und Feuchteschutz sind dabei zwei unterschiedliche Aufgaben. Vorhandene Feuchteschäden sollten fachlich untersucht und nicht einfach durch neue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Dachdämmung: Aufbau und Luftdichtheit gemeinsam prüfen</a:t>
            </a:r>
          </a:p>
        </p:txBody>
      </p:sp>
      <p:sp>
        <p:nvSpPr>
          <p:cNvPr id="3" name="Content Placeholder 2"/>
          <p:cNvSpPr>
            <a:spLocks noGrp="1"/>
          </p:cNvSpPr>
          <p:nvPr>
            <p:ph idx="1"/>
          </p:nvPr>
        </p:nvSpPr>
        <p:spPr/>
        <p:txBody>
          <a:bodyPr/>
          <a:lstStyle/>
          <a:p>
            <a:pPr>
              <a:defRPr sz="1800"/>
            </a:pPr>
            <a:r>
              <a:t> Schichten überdeckt werden. Die weiteren Grundlagen zur Dachdämmung fasst der Beitrag zur [Dachdämmung] zusammen.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Die thermische Hülle endet nicht an der Fläche</a:t>
            </a:r>
          </a:p>
        </p:txBody>
      </p:sp>
      <p:sp>
        <p:nvSpPr>
          <p:cNvPr id="3" name="Content Placeholder 2"/>
          <p:cNvSpPr>
            <a:spLocks noGrp="1"/>
          </p:cNvSpPr>
          <p:nvPr>
            <p:ph idx="1"/>
          </p:nvPr>
        </p:nvSpPr>
        <p:spPr/>
        <p:txBody>
          <a:bodyPr/>
          <a:lstStyle/>
          <a:p>
            <a:pPr>
              <a:defRPr sz="1800"/>
            </a:pPr>
            <a:r>
              <a:t>Eine Holzfassade kann die energetische Hülle unterstützen, wenn Unterkonstruktion, Dämmstoff und Hinterlüftung aufeinander abgestimmt sind. Holz und Dämmstoff werden dabei nicht isoliert betrachtet, weil ihre Wärmeleitungseigenschaften unterschiedlich wirken. Im Bestand kommen Anschlüsse an Sockel, Fensterbänke und angrenzende Bauteile hinzu. An solchen Übergängen entstehen häufig Wärmebrücken, auch wenn die eigentliche Fassadenfläche gut aufgebaut ist. Die Holzfassade sollte deshalb nicht als reine Gestaltungslösung, sondern als Teil eines abgestimmten Hüllensystems beurteilt werden. Entscheidend ist, welche Anschlussdetails vorhanden sind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Die thermische Hülle endet nicht an der Fläche</a:t>
            </a:r>
          </a:p>
        </p:txBody>
      </p:sp>
      <p:sp>
        <p:nvSpPr>
          <p:cNvPr id="3" name="Content Placeholder 2"/>
          <p:cNvSpPr>
            <a:spLocks noGrp="1"/>
          </p:cNvSpPr>
          <p:nvPr>
            <p:ph idx="1"/>
          </p:nvPr>
        </p:nvSpPr>
        <p:spPr/>
        <p:txBody>
          <a:bodyPr/>
          <a:lstStyle/>
          <a:p>
            <a:pPr>
              <a:defRPr sz="1800"/>
            </a:pPr>
            <a:r>
              <a:t>nd welche bauphysikalischen Anforderungen an den jeweiligen Bestand bestehen.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Neue Hülle braucht Statik und Bestandsprüfung</a:t>
            </a:r>
          </a:p>
        </p:txBody>
      </p:sp>
      <p:sp>
        <p:nvSpPr>
          <p:cNvPr id="3" name="Content Placeholder 2"/>
          <p:cNvSpPr>
            <a:spLocks noGrp="1"/>
          </p:cNvSpPr>
          <p:nvPr>
            <p:ph idx="1"/>
          </p:nvPr>
        </p:nvSpPr>
        <p:spPr/>
        <p:txBody>
          <a:bodyPr/>
          <a:lstStyle/>
          <a:p>
            <a:pPr>
              <a:defRPr sz="1800"/>
            </a:pPr>
            <a:r>
              <a:t>Eine Dachaufstockung kann eine neue Gebäudehülle oberhalb des Bestandsdachs schaffen und erweitert zugleich den nutzbaren Raum. Dach, oberste Geschossdecke und neue Wände lassen sich dabei grundsätzlich gemeinsam planen. Damit verbunden ist jedoch eine Veränderung der Lastsituation. Tragfähigkeit, Anschlüsse an bestehendes Mauerwerk und die Integration oder Ersetzung des alten Dachs müssen in die Vorplanung einfließen. Die Aufstockung ist deshalb nicht allein eine Dämmaufgabe. Sie berührt zugleich Statik, Feuchteschutz und die Sicherstellung einer funktionierenden Gebäudehülle. Eine frühzeitige Bestandsaufnahme verhindert, dass Bauteile nacht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Dachaufstockung: Neue Hülle braucht Statik und Bestandsprüfung</a:t>
            </a:r>
          </a:p>
        </p:txBody>
      </p:sp>
      <p:sp>
        <p:nvSpPr>
          <p:cNvPr id="3" name="Content Placeholder 2"/>
          <p:cNvSpPr>
            <a:spLocks noGrp="1"/>
          </p:cNvSpPr>
          <p:nvPr>
            <p:ph idx="1"/>
          </p:nvPr>
        </p:nvSpPr>
        <p:spPr/>
        <p:txBody>
          <a:bodyPr/>
          <a:lstStyle/>
          <a:p>
            <a:pPr>
              <a:defRPr sz="1800"/>
            </a:pPr>
            <a:r>
              <a:t>räglich angepasst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 Schwachstelle zwischen warmen und kalten Bereichen</a:t>
            </a:r>
          </a:p>
        </p:txBody>
      </p:sp>
      <p:sp>
        <p:nvSpPr>
          <p:cNvPr id="3" name="Content Placeholder 2"/>
          <p:cNvSpPr>
            <a:spLocks noGrp="1"/>
          </p:cNvSpPr>
          <p:nvPr>
            <p:ph idx="1"/>
          </p:nvPr>
        </p:nvSpPr>
        <p:spPr/>
        <p:txBody>
          <a:bodyPr/>
          <a:lstStyle/>
          <a:p>
            <a:pPr>
              <a:defRPr sz="1800"/>
            </a:pPr>
            <a:r>
              <a:t>Die oberste Geschossdecke kann beheizte und unbeheizte Bereiche voneinander trennen. Wenn sie ungedämmt ist, entsteht an dieser Stelle häufig ein deutlicher energetischer Schwachpunkt. Zusätzlich zeigt sich dort oft das Feuchteverhalten, besonders bei einem nicht ausgebauten Dachraum über bewohnten Räumen. Für die Ertüchtigung kommen je nach Bestand eine begehbare Dämmung von oben, eine Einblasdämmung in die Gefache oder eine unterseitige Bekleidung mit zusätzlicher Dämmebene infrage. Die Auswahl hängt vom Schichtenaufbau, von der Zugänglichkeit und davon ab, ob Feuchtigkeit aus der Raumseite kontrolliert werden muss. Die Lösung sollte daher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Holzbalkendecke: Schwachstelle zwischen warmen und kalten Bereichen</a:t>
            </a:r>
          </a:p>
        </p:txBody>
      </p:sp>
      <p:sp>
        <p:nvSpPr>
          <p:cNvPr id="3" name="Content Placeholder 2"/>
          <p:cNvSpPr>
            <a:spLocks noGrp="1"/>
          </p:cNvSpPr>
          <p:nvPr>
            <p:ph idx="1"/>
          </p:nvPr>
        </p:nvSpPr>
        <p:spPr/>
        <p:txBody>
          <a:bodyPr/>
          <a:lstStyle/>
          <a:p>
            <a:pPr>
              <a:defRPr sz="1800"/>
            </a:pPr>
            <a:r>
              <a:t>nicht allein nach dem Dämmstoff ausgewählt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für die Planung</a:t>
            </a:r>
          </a:p>
        </p:txBody>
      </p:sp>
      <p:sp>
        <p:nvSpPr>
          <p:cNvPr id="3" name="Content Placeholder 2"/>
          <p:cNvSpPr>
            <a:spLocks noGrp="1"/>
          </p:cNvSpPr>
          <p:nvPr>
            <p:ph idx="1"/>
          </p:nvPr>
        </p:nvSpPr>
        <p:spPr/>
        <p:txBody>
          <a:bodyPr/>
          <a:lstStyle/>
          <a:p>
            <a:pPr>
              <a:defRPr sz="1800"/>
            </a:pPr>
            <a:r>
              <a:t>Die vier Bauteile wirken im Bestand zusammen. Eine neue [Holzfassade] ersetzt keine Dachdämmung, und eine Aufstockung entfaltet ihr Potenzial nicht vollständig, wenn die Bestandsdecke unberücksichtigt bleibt. Umgekehrt kann eine Dachdämmung Feuchteprobleme verlagern, wenn die luftdichte Ebene fehlt. Vor der Planung sollten deshalb der vorhandene Schichtenaufbau, die Anschlüsse, die Feuchtehistorie und die geplante Nutzung erfasst werden. Allgemeine Einsparversprechen oder pauschale Dämmstärken ersetzen diese Prüfung nicht. Eine ruhige Bestandsaufnahme schafft die Grundlage dafür, Maßnahmen sinnvoll zu kombinieren und bauphysikalische Risiken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sinnvolle Reihenfolge für die Planung</a:t>
            </a:r>
          </a:p>
        </p:txBody>
      </p:sp>
      <p:sp>
        <p:nvSpPr>
          <p:cNvPr id="3" name="Content Placeholder 2"/>
          <p:cNvSpPr>
            <a:spLocks noGrp="1"/>
          </p:cNvSpPr>
          <p:nvPr>
            <p:ph idx="1"/>
          </p:nvPr>
        </p:nvSpPr>
        <p:spPr/>
        <p:txBody>
          <a:bodyPr/>
          <a:lstStyle/>
          <a:p>
            <a:pPr>
              <a:defRPr sz="1800"/>
            </a:pPr>
            <a:r>
              <a:t>früh zu erkennen.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Energetische Verbesserungen mit Holzkonstruktionen: Welche Optionen im Bestand wirklich tragen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