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zimmermann/baugenehmigung-holzbau-berlin-planungsstadium-vor-der-anfrage/" TargetMode="External"/><Relationship Id="rId3" Type="http://schemas.openxmlformats.org/officeDocument/2006/relationships/hyperlink" Target="https://holzundhaus.github.io/spreezimmermann/dateien/minimax-a484d54aee3cada19134ae6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der richt Zeitpunkt für die Zimmermann-Anfrage? Genehmigungsfragen vorab klären · Erklärende Präsentation</a:t>
            </a:r>
          </a:p>
        </p:txBody>
      </p:sp>
      <p:sp>
        <p:nvSpPr>
          <p:cNvPr id="3" name="Content Placeholder 2"/>
          <p:cNvSpPr>
            <a:spLocks noGrp="1"/>
          </p:cNvSpPr>
          <p:nvPr>
            <p:ph idx="1"/>
          </p:nvPr>
        </p:nvSpPr>
        <p:spPr/>
        <p:txBody>
          <a:bodyPr/>
          <a:lstStyle/>
          <a:p>
            <a:r>
              <a:t>Überblick: Der richtige Zeitpunkt für eine Anfrage beim Zimmermann ist nicht erst dann, wenn alle Details ausgearbeitet sind. Entscheidend ist, dass Nutzung, Genehmigungsstatus und konstruktive Schnittstellen des Holzbauprojekts bereits so klar sind, dass Angebote vergleichbar bleiben. Dieser Ratgeber zeigt, welche Vorprüfung in Berlin vor der ersten Anfrage sinnvoll ist und welche Unterlagen dabei helfen, den Umfang präzise zu beschreiben.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Genehmigungsfrage vorab geklärt werden sollte</a:t>
            </a:r>
          </a:p>
        </p:txBody>
      </p:sp>
      <p:sp>
        <p:nvSpPr>
          <p:cNvPr id="3" name="Content Placeholder 2"/>
          <p:cNvSpPr>
            <a:spLocks noGrp="1"/>
          </p:cNvSpPr>
          <p:nvPr>
            <p:ph idx="1"/>
          </p:nvPr>
        </p:nvSpPr>
        <p:spPr/>
        <p:txBody>
          <a:bodyPr/>
          <a:lstStyle/>
          <a:p>
            <a:pPr>
              <a:defRPr sz="1800"/>
            </a:pPr>
            <a:r>
              <a:t>Ein Holzbauprojekt beginnt nicht zwingend mit der Kontaktaufnahme zum Zimmermann, sondern mit der Frage, ob es in seiner geplanten Form genehmigungsfähig ist. Wird diese Einordnung zu früh übersprungen, beruhen Angebote möglicherweise auf einer Planung, die später geändert werden muss. Das gilt besonders, weil genehmigungsrechtliche Fragen je nach Vorhaben unterschiedlich zu beurteilen sind. Die Bauweise allein sagt nicht aus, ob ein Verfahren erforderlich ist oder ein Freistellungstatbestand greift. Wer die offenen Fragen benennt, kann deshalb ein belastbareres Angebot einholen und vermeiden, dass Umfang und Anschlusspunkte nachträglich neu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Genehmigungsfrage vorab geklärt werden sollte</a:t>
            </a:r>
          </a:p>
        </p:txBody>
      </p:sp>
      <p:sp>
        <p:nvSpPr>
          <p:cNvPr id="3" name="Content Placeholder 2"/>
          <p:cNvSpPr>
            <a:spLocks noGrp="1"/>
          </p:cNvSpPr>
          <p:nvPr>
            <p:ph idx="1"/>
          </p:nvPr>
        </p:nvSpPr>
        <p:spPr/>
        <p:txBody>
          <a:bodyPr/>
          <a:lstStyle/>
          <a:p>
            <a:pPr>
              <a:defRPr sz="1800"/>
            </a:pPr>
            <a:r>
              <a:t>festgelegt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Vorhabentypen führen zu unterschiedlichen Prüfpfaden</a:t>
            </a:r>
          </a:p>
        </p:txBody>
      </p:sp>
      <p:sp>
        <p:nvSpPr>
          <p:cNvPr id="3" name="Content Placeholder 2"/>
          <p:cNvSpPr>
            <a:spLocks noGrp="1"/>
          </p:cNvSpPr>
          <p:nvPr>
            <p:ph idx="1"/>
          </p:nvPr>
        </p:nvSpPr>
        <p:spPr/>
        <p:txBody>
          <a:bodyPr/>
          <a:lstStyle/>
          <a:p>
            <a:pPr>
              <a:defRPr sz="1800"/>
            </a:pPr>
            <a:r>
              <a:t>Vor der Anfrage sollte feststehen, um welchen Vorhabenstyp es sich handelt. Ein Holzanbau erweitert oder verändert einen Aufenthaltsraum und ist damit nicht mit einer Carport-Überdachung gleichzusetzen. Bei einer Dachgaube spielt der Eingriff in Dach und Dachtragwerk eine wichtige Rolle. Beim Carport hängt die Einordnung dagegen von Nutzung und Funktion ab. Für Berlin nennt der Ratgeber zur Vorbereitung der Anfrage den § 59 BauO Bln als Ausgangspunkt für Holzanbauten, für Dachgauben den besonderen Pfad nach § 62 Abs. 1 Buchstabe c im Bereich des § 34 BauGB und für Carports eine eigene Verfahrenslogik. Welche Vorschrift tatsächlich einschlägig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Vorhabentypen führen zu unterschiedlichen Prüfpfaden</a:t>
            </a:r>
          </a:p>
        </p:txBody>
      </p:sp>
      <p:sp>
        <p:nvSpPr>
          <p:cNvPr id="3" name="Content Placeholder 2"/>
          <p:cNvSpPr>
            <a:spLocks noGrp="1"/>
          </p:cNvSpPr>
          <p:nvPr>
            <p:ph idx="1"/>
          </p:nvPr>
        </p:nvSpPr>
        <p:spPr/>
        <p:txBody>
          <a:bodyPr/>
          <a:lstStyle/>
          <a:p>
            <a:pPr>
              <a:defRPr sz="1800"/>
            </a:pPr>
            <a:r>
              <a:t> ist, muss anhand des konkreten Vorhabens 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der Vorprüfung</a:t>
            </a:r>
          </a:p>
        </p:txBody>
      </p:sp>
      <p:sp>
        <p:nvSpPr>
          <p:cNvPr id="3" name="Content Placeholder 2"/>
          <p:cNvSpPr>
            <a:spLocks noGrp="1"/>
          </p:cNvSpPr>
          <p:nvPr>
            <p:ph idx="1"/>
          </p:nvPr>
        </p:nvSpPr>
        <p:spPr/>
        <p:txBody>
          <a:bodyPr/>
          <a:lstStyle/>
          <a:p>
            <a:pPr>
              <a:defRPr sz="1800"/>
            </a:pPr>
            <a:r>
              <a:t>Zunächst wird der Vorhabentyp bestimmt. Anschließend gehören Lage und planungsrechtliche Einordnung des Grundstücks sowie mögliche gesetzliche Ausnahmen auf den Prüfschirm. Eine Regel zur Verfahrensfreiheit greift nur dann, wenn ihre Voraussetzungen tatsächlich zum Projekt passen. Danach sollte der Umfang der Bauvorlagen feststehen: Lageplan, Grundrisse, Schnitte, Ansichten und Baubeschreibung erleichtern die Beurteilung des Prüfumfangs. Unabhängig davon sind konstruktive Schnittstellen wie Wandöffnungen, Anschlüsse an die Gebäudehülle, Fundament und vorhandenes Tragwerk zu klären. Bei denkmalgeschützten Objekten ist zusätzlich zu berücksicht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der Vorprüfung</a:t>
            </a:r>
          </a:p>
        </p:txBody>
      </p:sp>
      <p:sp>
        <p:nvSpPr>
          <p:cNvPr id="3" name="Content Placeholder 2"/>
          <p:cNvSpPr>
            <a:spLocks noGrp="1"/>
          </p:cNvSpPr>
          <p:nvPr>
            <p:ph idx="1"/>
          </p:nvPr>
        </p:nvSpPr>
        <p:spPr/>
        <p:txBody>
          <a:bodyPr/>
          <a:lstStyle/>
          <a:p>
            <a:pPr>
              <a:defRPr sz="1800"/>
            </a:pPr>
            <a:r>
              <a:t>igen, dass ein eigener denkmalrechtlicher Genehmigungsweg erforderlich sein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Gründe für Verzögerungen</a:t>
            </a:r>
          </a:p>
        </p:txBody>
      </p:sp>
      <p:sp>
        <p:nvSpPr>
          <p:cNvPr id="3" name="Content Placeholder 2"/>
          <p:cNvSpPr>
            <a:spLocks noGrp="1"/>
          </p:cNvSpPr>
          <p:nvPr>
            <p:ph idx="1"/>
          </p:nvPr>
        </p:nvSpPr>
        <p:spPr/>
        <p:txBody>
          <a:bodyPr/>
          <a:lstStyle/>
          <a:p>
            <a:pPr>
              <a:defRPr sz="1800"/>
            </a:pPr>
            <a:r>
              <a:t>Häufig entstehen Verzögerungen, wenn ein Stellplatz wie ein Aufenthaltsraum behandelt wird oder umgekehrt. Ebenso problematisch ist es, wenn lediglich eine Skizze den erforderlichen Planungsstand ersetzen soll. Auch Denkmalschutz wird zu spät berücksichtigt, obwohl bereits ein ausgearbeiteter Entwurf vorliegt. Konstruktive Fragen werden manchmal mit dem Genehmigungsverfahren vermischt, obwohl sie eigenständig zu lösen sind. Solche Ursachen liegen nicht zwangsläufig in der Holzbauweise. Vielmehr entstehen sie durch eine übersprungene Vorprüfung oder durch fehlende Angaben zur Einordnung und Ausführung. Eine belastbare Anfrage benennt deshalb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Gründe für Verzögerungen</a:t>
            </a:r>
          </a:p>
        </p:txBody>
      </p:sp>
      <p:sp>
        <p:nvSpPr>
          <p:cNvPr id="3" name="Content Placeholder 2"/>
          <p:cNvSpPr>
            <a:spLocks noGrp="1"/>
          </p:cNvSpPr>
          <p:nvPr>
            <p:ph idx="1"/>
          </p:nvPr>
        </p:nvSpPr>
        <p:spPr/>
        <p:txBody>
          <a:bodyPr/>
          <a:lstStyle/>
          <a:p>
            <a:pPr>
              <a:defRPr sz="1800"/>
            </a:pPr>
            <a:r>
              <a:t>icht nur das gewünschte Bauteil, sondern auch bereits erkennbare Risiken und offene Punkte.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erste Anfrage konkret enthalten sollte</a:t>
            </a:r>
          </a:p>
        </p:txBody>
      </p:sp>
      <p:sp>
        <p:nvSpPr>
          <p:cNvPr id="3" name="Content Placeholder 2"/>
          <p:cNvSpPr>
            <a:spLocks noGrp="1"/>
          </p:cNvSpPr>
          <p:nvPr>
            <p:ph idx="1"/>
          </p:nvPr>
        </p:nvSpPr>
        <p:spPr/>
        <p:txBody>
          <a:bodyPr/>
          <a:lstStyle/>
          <a:p>
            <a:pPr>
              <a:defRPr sz="1800"/>
            </a:pPr>
            <a:r>
              <a:t>Für die Einordnung einer Anfrage sind mindestens der Bauort in Berlin, das betroffene Bauteil, der vorhandene Planungsstand und die gewünschten Arbeiten anzugeben. Hilfreich ist außerdem eine kurze Beschreibung der Nutzung, der Gebäudehülle und der konstruktiven Anbindung. Bekannte Genehmigungsfragen sollten ausdrücklich genannt werden. Dadurch kann der Zimmermann den Leistungsumfang besser einordnen und ein Angebot erstellen, das nicht allein auf einem pauschalen Wunsch basiert. Wer wissen möchte, welche Angaben vor der Kontaktaufnahme vorbereitet werden sollten, findet weitere Hinweise im Beitrag [Wann ist der richtige Zeitpunkt für die Zim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erste Anfrage konkret enthalten sollte</a:t>
            </a:r>
          </a:p>
        </p:txBody>
      </p:sp>
      <p:sp>
        <p:nvSpPr>
          <p:cNvPr id="3" name="Content Placeholder 2"/>
          <p:cNvSpPr>
            <a:spLocks noGrp="1"/>
          </p:cNvSpPr>
          <p:nvPr>
            <p:ph idx="1"/>
          </p:nvPr>
        </p:nvSpPr>
        <p:spPr/>
        <p:txBody>
          <a:bodyPr/>
          <a:lstStyle/>
          <a:p>
            <a:pPr>
              <a:defRPr sz="1800"/>
            </a:pPr>
            <a:r>
              <a:t>mermann-Anfrage?]. Als thematisch passenden Einstieg bietet sich [Regenwasser von Carport und Terrassenüberdachung richtig führen] an, weil dabei ebenfalls konstruktive Details bereits vor der Anfrage benannt werden sollten.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ist der richt Zeitpunkt für die Zimmermann-Anfrage? Genehmigungsfragen vorab klären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